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924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84068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4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kern="0" spc="800" dirty="0">
                <a:solidFill>
                  <a:srgbClr val="8899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ECHOES OF THE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64592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kern="0" spc="600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FORGOTTEN KEEP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 C++20 3D Game Engine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200400" y="3291840"/>
            <a:ext cx="2743200" cy="0"/>
          </a:xfrm>
          <a:prstGeom prst="line">
            <a:avLst/>
          </a:prstGeom>
          <a:noFill/>
          <a:ln w="1905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7" name="Text 5"/>
          <p:cNvSpPr/>
          <p:nvPr/>
        </p:nvSpPr>
        <p:spPr>
          <a:xfrm>
            <a:off x="731520" y="35661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kern="0" spc="4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 8051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39319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Joey Driedger</a:t>
            </a: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Engine &amp; Architecture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42062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Van Woerden</a:t>
            </a: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Graphics &amp; Rendering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448056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Elijah Fabon</a:t>
            </a: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Gameplay &amp; Systems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 ARCHITECTURE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Layered, modular design with clear system boundaries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1188720"/>
            <a:ext cx="4754880" cy="822960"/>
          </a:xfrm>
          <a:prstGeom prst="rect">
            <a:avLst/>
          </a:prstGeom>
          <a:solidFill>
            <a:srgbClr val="2D4A3E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371600"/>
            <a:ext cx="411480" cy="411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2588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Layer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132588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logic, scenes, room layout, enemy config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560320" y="1965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4A84B"/>
                </a:solidFill>
              </a:rPr>
              <a:t>▼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48640" y="2121408"/>
            <a:ext cx="4754880" cy="822960"/>
          </a:xfrm>
          <a:prstGeom prst="rect">
            <a:avLst/>
          </a:prstGeom>
          <a:solidFill>
            <a:srgbClr val="2D3E5E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304288"/>
            <a:ext cx="411480" cy="4114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325880" y="22128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Core Layer</a:t>
            </a:r>
            <a:endParaRPr lang="en-US" sz="1500" dirty="0"/>
          </a:p>
        </p:txBody>
      </p:sp>
      <p:sp>
        <p:nvSpPr>
          <p:cNvPr id="13" name="Text 8"/>
          <p:cNvSpPr/>
          <p:nvPr/>
        </p:nvSpPr>
        <p:spPr>
          <a:xfrm>
            <a:off x="1325880" y="25328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framework, scene manager, time, input, audio</a:t>
            </a:r>
            <a:endParaRPr lang="en-US" sz="1100" dirty="0"/>
          </a:p>
        </p:txBody>
      </p:sp>
      <p:sp>
        <p:nvSpPr>
          <p:cNvPr id="14" name="Text 9"/>
          <p:cNvSpPr/>
          <p:nvPr/>
        </p:nvSpPr>
        <p:spPr>
          <a:xfrm>
            <a:off x="2560320" y="28986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4A84B"/>
                </a:solidFill>
              </a:rPr>
              <a:t>▼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548640" y="3054096"/>
            <a:ext cx="4754880" cy="822960"/>
          </a:xfrm>
          <a:prstGeom prst="rect">
            <a:avLst/>
          </a:prstGeom>
          <a:solidFill>
            <a:srgbClr val="3E2D5E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36976"/>
            <a:ext cx="411480" cy="4114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325880" y="314553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Rendering Layer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1325880" y="346557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Shaders, meshes, textures, skeletal animation, camera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2560320" y="38313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4A84B"/>
                </a:solidFill>
              </a:rPr>
              <a:t>▼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548640" y="3986784"/>
            <a:ext cx="4754880" cy="822960"/>
          </a:xfrm>
          <a:prstGeom prst="rect">
            <a:avLst/>
          </a:prstGeom>
          <a:solidFill>
            <a:srgbClr val="5E2D3E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169664"/>
            <a:ext cx="411480" cy="41148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325880" y="407822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Layer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1325880" y="439826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SDL3 window, OpenGL 4.6, audio (SDL3_mixer)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5669280" y="1188720"/>
            <a:ext cx="3108960" cy="365760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5" name="Text 18"/>
          <p:cNvSpPr/>
          <p:nvPr/>
        </p:nvSpPr>
        <p:spPr>
          <a:xfrm>
            <a:off x="5852160" y="1325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 STACK</a:t>
            </a:r>
            <a:endParaRPr lang="en-US" sz="1400" dirty="0"/>
          </a:p>
        </p:txBody>
      </p:sp>
      <p:sp>
        <p:nvSpPr>
          <p:cNvPr id="26" name="Text 19"/>
          <p:cNvSpPr/>
          <p:nvPr/>
        </p:nvSpPr>
        <p:spPr>
          <a:xfrm>
            <a:off x="5852160" y="1691640"/>
            <a:ext cx="2743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C++20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SDL3 + SDL3_mixer + SDL3_image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OpenGL 4.6 (via GLAD)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GLM (math library)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Assimp 6.0.4 (model loading)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stb_truetype (font rendering)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CMake build system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ECS ARCHITECTURE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Entity-Component-System: data-oriented design separating identity, data, and logic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1143000"/>
            <a:ext cx="2468880" cy="2560320"/>
          </a:xfrm>
          <a:prstGeom prst="rect">
            <a:avLst/>
          </a:prstGeom>
          <a:solidFill>
            <a:srgbClr val="2D4A3E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6" name="Text 3"/>
          <p:cNvSpPr/>
          <p:nvPr/>
        </p:nvSpPr>
        <p:spPr>
          <a:xfrm>
            <a:off x="685800" y="1234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ENTITIES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1508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IDs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914400" y="1783080"/>
            <a:ext cx="1737360" cy="0"/>
          </a:xfrm>
          <a:prstGeom prst="line">
            <a:avLst/>
          </a:prstGeom>
          <a:noFill/>
          <a:ln w="635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9" name="Text 6"/>
          <p:cNvSpPr/>
          <p:nvPr/>
        </p:nvSpPr>
        <p:spPr>
          <a:xfrm>
            <a:off x="731520" y="192024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uint32_t identifiers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5,000 entities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recycling via stack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 bitset (64-bit)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246120" y="1143000"/>
            <a:ext cx="2468880" cy="2560320"/>
          </a:xfrm>
          <a:prstGeom prst="rect">
            <a:avLst/>
          </a:prstGeom>
          <a:solidFill>
            <a:srgbClr val="2D3E5E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1" name="Text 8"/>
          <p:cNvSpPr/>
          <p:nvPr/>
        </p:nvSpPr>
        <p:spPr>
          <a:xfrm>
            <a:off x="3383280" y="1234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COMPONENTS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3383280" y="1508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data structs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611880" y="1783080"/>
            <a:ext cx="1737360" cy="0"/>
          </a:xfrm>
          <a:prstGeom prst="line">
            <a:avLst/>
          </a:prstGeom>
          <a:noFill/>
          <a:ln w="635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4" name="Text 11"/>
          <p:cNvSpPr/>
          <p:nvPr/>
        </p:nvSpPr>
        <p:spPr>
          <a:xfrm>
            <a:off x="3429000" y="192024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component types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Transform, Render, Health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CombatState, EnemyAI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Collider, AnimationState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943600" y="1143000"/>
            <a:ext cx="2468880" cy="2560320"/>
          </a:xfrm>
          <a:prstGeom prst="rect">
            <a:avLst/>
          </a:prstGeom>
          <a:solidFill>
            <a:srgbClr val="3E2D5E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6" name="Text 13"/>
          <p:cNvSpPr/>
          <p:nvPr/>
        </p:nvSpPr>
        <p:spPr>
          <a:xfrm>
            <a:off x="6080760" y="1234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080760" y="1508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processors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309360" y="1783080"/>
            <a:ext cx="1737360" cy="0"/>
          </a:xfrm>
          <a:prstGeom prst="line">
            <a:avLst/>
          </a:prstGeom>
          <a:noFill/>
          <a:ln w="635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9" name="Text 16"/>
          <p:cNvSpPr/>
          <p:nvPr/>
        </p:nvSpPr>
        <p:spPr>
          <a:xfrm>
            <a:off x="6126480" y="192024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systems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or instance-based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Ordered execution pipeline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systems per frame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48640" y="3886200"/>
            <a:ext cx="8046720" cy="1051560"/>
          </a:xfrm>
          <a:prstGeom prst="rect">
            <a:avLst/>
          </a:prstGeom>
          <a:solidFill>
            <a:srgbClr val="141E2B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1" name="Text 18"/>
          <p:cNvSpPr/>
          <p:nvPr/>
        </p:nvSpPr>
        <p:spPr>
          <a:xfrm>
            <a:off x="731520" y="39776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ComponentStorage: O(1) access via entity-to-index map  |  "Swap and pop" removal  |  Contiguous memory layout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31520" y="4251960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registry.AddComponent(entity, Transform(10.0f, 0.0f, 5.0f));  // Copy-add component to entity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731520" y="4480560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registry.AddComponent(entity, Player{});                              // Marker component, no data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RENDERING PIPELINE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rendering with OpenGL 4.6, skeletal animation, and GPU skinning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6" name="Shape 3"/>
          <p:cNvSpPr/>
          <p:nvPr/>
        </p:nvSpPr>
        <p:spPr>
          <a:xfrm>
            <a:off x="891540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7" name="Text 4"/>
          <p:cNvSpPr/>
          <p:nvPr/>
        </p:nvSpPr>
        <p:spPr>
          <a:xfrm>
            <a:off x="891540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94360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554480" y="14630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▶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1719072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1" name="Shape 8"/>
          <p:cNvSpPr/>
          <p:nvPr/>
        </p:nvSpPr>
        <p:spPr>
          <a:xfrm>
            <a:off x="2061972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2" name="Text 9"/>
          <p:cNvSpPr/>
          <p:nvPr/>
        </p:nvSpPr>
        <p:spPr>
          <a:xfrm>
            <a:off x="2061972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764792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2724912" y="14630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▶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2889504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6" name="Shape 13"/>
          <p:cNvSpPr/>
          <p:nvPr/>
        </p:nvSpPr>
        <p:spPr>
          <a:xfrm>
            <a:off x="3232404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7" name="Text 14"/>
          <p:cNvSpPr/>
          <p:nvPr/>
        </p:nvSpPr>
        <p:spPr>
          <a:xfrm>
            <a:off x="3232404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2935224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Mat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895344" y="14630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▶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059936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1" name="Shape 18"/>
          <p:cNvSpPr/>
          <p:nvPr/>
        </p:nvSpPr>
        <p:spPr>
          <a:xfrm>
            <a:off x="4402836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2" name="Text 19"/>
          <p:cNvSpPr/>
          <p:nvPr/>
        </p:nvSpPr>
        <p:spPr>
          <a:xfrm>
            <a:off x="4402836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105656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Shader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065776" y="14630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▶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5230368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6" name="Shape 23"/>
          <p:cNvSpPr/>
          <p:nvPr/>
        </p:nvSpPr>
        <p:spPr>
          <a:xfrm>
            <a:off x="5573268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7" name="Text 24"/>
          <p:cNvSpPr/>
          <p:nvPr/>
        </p:nvSpPr>
        <p:spPr>
          <a:xfrm>
            <a:off x="5573268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5276088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Bones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236208" y="14630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▶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6400800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31" name="Shape 28"/>
          <p:cNvSpPr/>
          <p:nvPr/>
        </p:nvSpPr>
        <p:spPr>
          <a:xfrm>
            <a:off x="6743700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2" name="Text 29"/>
          <p:cNvSpPr/>
          <p:nvPr/>
        </p:nvSpPr>
        <p:spPr>
          <a:xfrm>
            <a:off x="6743700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6446520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7406640" y="14630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▶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571232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36" name="Shape 33"/>
          <p:cNvSpPr/>
          <p:nvPr/>
        </p:nvSpPr>
        <p:spPr>
          <a:xfrm>
            <a:off x="7914132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7" name="Text 34"/>
          <p:cNvSpPr/>
          <p:nvPr/>
        </p:nvSpPr>
        <p:spPr>
          <a:xfrm>
            <a:off x="7914132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7616952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Buffers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48640" y="2423160"/>
            <a:ext cx="26060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4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0"/>
            <a:ext cx="274320" cy="274320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1051560" y="25328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Phong Shading</a:t>
            </a:r>
            <a:endParaRPr lang="en-US" sz="1300" dirty="0"/>
          </a:p>
        </p:txBody>
      </p:sp>
      <p:sp>
        <p:nvSpPr>
          <p:cNvPr id="42" name="Text 38"/>
          <p:cNvSpPr/>
          <p:nvPr/>
        </p:nvSpPr>
        <p:spPr>
          <a:xfrm>
            <a:off x="1051560" y="283464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 + diffuse + specular lighting with directional light</a:t>
            </a:r>
            <a:endParaRPr lang="en-US" sz="1000" dirty="0"/>
          </a:p>
        </p:txBody>
      </p:sp>
      <p:sp>
        <p:nvSpPr>
          <p:cNvPr id="43" name="Shape 39"/>
          <p:cNvSpPr/>
          <p:nvPr/>
        </p:nvSpPr>
        <p:spPr>
          <a:xfrm>
            <a:off x="3291840" y="2423160"/>
            <a:ext cx="26060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4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2560320"/>
            <a:ext cx="274320" cy="274320"/>
          </a:xfrm>
          <a:prstGeom prst="rect">
            <a:avLst/>
          </a:prstGeom>
        </p:spPr>
      </p:pic>
      <p:sp>
        <p:nvSpPr>
          <p:cNvPr id="45" name="Text 40"/>
          <p:cNvSpPr/>
          <p:nvPr/>
        </p:nvSpPr>
        <p:spPr>
          <a:xfrm>
            <a:off x="3794760" y="25328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Skinning</a:t>
            </a:r>
            <a:endParaRPr lang="en-US" sz="1300" dirty="0"/>
          </a:p>
        </p:txBody>
      </p:sp>
      <p:sp>
        <p:nvSpPr>
          <p:cNvPr id="46" name="Text 41"/>
          <p:cNvSpPr/>
          <p:nvPr/>
        </p:nvSpPr>
        <p:spPr>
          <a:xfrm>
            <a:off x="3794760" y="283464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bone matrices uploaded per entity for skeletal deformation</a:t>
            </a:r>
            <a:endParaRPr lang="en-US" sz="1000" dirty="0"/>
          </a:p>
        </p:txBody>
      </p:sp>
      <p:sp>
        <p:nvSpPr>
          <p:cNvPr id="47" name="Shape 42"/>
          <p:cNvSpPr/>
          <p:nvPr/>
        </p:nvSpPr>
        <p:spPr>
          <a:xfrm>
            <a:off x="6035040" y="2423160"/>
            <a:ext cx="26060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4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2560320"/>
            <a:ext cx="274320" cy="274320"/>
          </a:xfrm>
          <a:prstGeom prst="rect">
            <a:avLst/>
          </a:prstGeom>
        </p:spPr>
      </p:pic>
      <p:sp>
        <p:nvSpPr>
          <p:cNvPr id="49" name="Text 43"/>
          <p:cNvSpPr/>
          <p:nvPr/>
        </p:nvSpPr>
        <p:spPr>
          <a:xfrm>
            <a:off x="6537960" y="25328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 Blending</a:t>
            </a:r>
            <a:endParaRPr lang="en-US" sz="1300" dirty="0"/>
          </a:p>
        </p:txBody>
      </p:sp>
      <p:sp>
        <p:nvSpPr>
          <p:cNvPr id="50" name="Text 44"/>
          <p:cNvSpPr/>
          <p:nvPr/>
        </p:nvSpPr>
        <p:spPr>
          <a:xfrm>
            <a:off x="6537960" y="283464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0.2s smooth transitions between 7 animation states</a:t>
            </a:r>
            <a:endParaRPr lang="en-US" sz="1000" dirty="0"/>
          </a:p>
        </p:txBody>
      </p:sp>
      <p:sp>
        <p:nvSpPr>
          <p:cNvPr id="51" name="Shape 45"/>
          <p:cNvSpPr/>
          <p:nvPr/>
        </p:nvSpPr>
        <p:spPr>
          <a:xfrm>
            <a:off x="548640" y="3538728"/>
            <a:ext cx="26060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5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675888"/>
            <a:ext cx="274320" cy="274320"/>
          </a:xfrm>
          <a:prstGeom prst="rect">
            <a:avLst/>
          </a:prstGeom>
        </p:spPr>
      </p:pic>
      <p:sp>
        <p:nvSpPr>
          <p:cNvPr id="53" name="Text 46"/>
          <p:cNvSpPr/>
          <p:nvPr/>
        </p:nvSpPr>
        <p:spPr>
          <a:xfrm>
            <a:off x="1051560" y="364845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GLB/GLTF Loading</a:t>
            </a:r>
            <a:endParaRPr lang="en-US" sz="1300" dirty="0"/>
          </a:p>
        </p:txBody>
      </p:sp>
      <p:sp>
        <p:nvSpPr>
          <p:cNvPr id="54" name="Text 47"/>
          <p:cNvSpPr/>
          <p:nvPr/>
        </p:nvSpPr>
        <p:spPr>
          <a:xfrm>
            <a:off x="1051560" y="3950208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Assimp 6.0.4 for models, skeletons, and animation clips</a:t>
            </a:r>
            <a:endParaRPr lang="en-US" sz="1000" dirty="0"/>
          </a:p>
        </p:txBody>
      </p:sp>
      <p:sp>
        <p:nvSpPr>
          <p:cNvPr id="55" name="Shape 48"/>
          <p:cNvSpPr/>
          <p:nvPr/>
        </p:nvSpPr>
        <p:spPr>
          <a:xfrm>
            <a:off x="3291840" y="3538728"/>
            <a:ext cx="26060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56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29000" y="3675888"/>
            <a:ext cx="274320" cy="274320"/>
          </a:xfrm>
          <a:prstGeom prst="rect">
            <a:avLst/>
          </a:prstGeom>
        </p:spPr>
      </p:pic>
      <p:sp>
        <p:nvSpPr>
          <p:cNvPr id="57" name="Text 49"/>
          <p:cNvSpPr/>
          <p:nvPr/>
        </p:nvSpPr>
        <p:spPr>
          <a:xfrm>
            <a:off x="3794760" y="364845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Rendering</a:t>
            </a:r>
            <a:endParaRPr lang="en-US" sz="1300" dirty="0"/>
          </a:p>
        </p:txBody>
      </p:sp>
      <p:sp>
        <p:nvSpPr>
          <p:cNvPr id="58" name="Text 50"/>
          <p:cNvSpPr/>
          <p:nvPr/>
        </p:nvSpPr>
        <p:spPr>
          <a:xfrm>
            <a:off x="3794760" y="3950208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TrueType font atlas (512x512) via stb_truetype</a:t>
            </a:r>
            <a:endParaRPr lang="en-US" sz="1000" dirty="0"/>
          </a:p>
        </p:txBody>
      </p:sp>
      <p:sp>
        <p:nvSpPr>
          <p:cNvPr id="59" name="Shape 51"/>
          <p:cNvSpPr/>
          <p:nvPr/>
        </p:nvSpPr>
        <p:spPr>
          <a:xfrm>
            <a:off x="6035040" y="3538728"/>
            <a:ext cx="26060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60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72200" y="3675888"/>
            <a:ext cx="274320" cy="274320"/>
          </a:xfrm>
          <a:prstGeom prst="rect">
            <a:avLst/>
          </a:prstGeom>
        </p:spPr>
      </p:pic>
      <p:sp>
        <p:nvSpPr>
          <p:cNvPr id="61" name="Text 52"/>
          <p:cNvSpPr/>
          <p:nvPr/>
        </p:nvSpPr>
        <p:spPr>
          <a:xfrm>
            <a:off x="6537960" y="364845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Rendering</a:t>
            </a:r>
            <a:endParaRPr lang="en-US" sz="1300" dirty="0"/>
          </a:p>
        </p:txBody>
      </p:sp>
      <p:sp>
        <p:nvSpPr>
          <p:cNvPr id="62" name="Text 53"/>
          <p:cNvSpPr/>
          <p:nvPr/>
        </p:nvSpPr>
        <p:spPr>
          <a:xfrm>
            <a:off x="6537960" y="3950208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Orthographic projection for HUD, menus, and overlays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COMBAT SYSTEM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interlinked systems powering real-time melee combat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1143000"/>
            <a:ext cx="4114800" cy="37490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6" name="Text 3"/>
          <p:cNvSpPr/>
          <p:nvPr/>
        </p:nvSpPr>
        <p:spPr>
          <a:xfrm>
            <a:off x="73152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COMBAT FLOW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22960" y="1645920"/>
            <a:ext cx="3657600" cy="594360"/>
          </a:xfrm>
          <a:prstGeom prst="rect">
            <a:avLst/>
          </a:prstGeom>
          <a:solidFill>
            <a:srgbClr val="2D5E2D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8" name="Text 5"/>
          <p:cNvSpPr/>
          <p:nvPr/>
        </p:nvSpPr>
        <p:spPr>
          <a:xfrm>
            <a:off x="914400" y="16916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8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SPACE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914400" y="1920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1 — Horizontal Slice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371600" y="22128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 Combo Window (0.5s)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22960" y="2423160"/>
            <a:ext cx="3657600" cy="594360"/>
          </a:xfrm>
          <a:prstGeom prst="rect">
            <a:avLst/>
          </a:prstGeom>
          <a:solidFill>
            <a:srgbClr val="3E5E2D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2" name="Text 9"/>
          <p:cNvSpPr/>
          <p:nvPr/>
        </p:nvSpPr>
        <p:spPr>
          <a:xfrm>
            <a:off x="914400" y="24688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8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SPACE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914400" y="2697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2 — Stab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1371600" y="299008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 Combo Window (0.5s)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22960" y="3200400"/>
            <a:ext cx="3657600" cy="594360"/>
          </a:xfrm>
          <a:prstGeom prst="rect">
            <a:avLst/>
          </a:prstGeom>
          <a:solidFill>
            <a:srgbClr val="5E3E2D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6" name="Text 13"/>
          <p:cNvSpPr/>
          <p:nvPr/>
        </p:nvSpPr>
        <p:spPr>
          <a:xfrm>
            <a:off x="914400" y="32461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8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SPACE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914400" y="34747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3 — Jump Chop + Lunge (2.5x knockback)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937760" y="1143000"/>
            <a:ext cx="3840480" cy="37490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9" name="Text 16"/>
          <p:cNvSpPr/>
          <p:nvPr/>
        </p:nvSpPr>
        <p:spPr>
          <a:xfrm>
            <a:off x="5120640" y="1234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INTERACTION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074920" y="1645920"/>
            <a:ext cx="54864" cy="457200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1" name="Text 18"/>
          <p:cNvSpPr/>
          <p:nvPr/>
        </p:nvSpPr>
        <p:spPr>
          <a:xfrm>
            <a:off x="5257800" y="166420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CombatInputSystem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257800" y="187452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SPACE key, queues combo attacks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583680" y="207568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▼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5074920" y="2240280"/>
            <a:ext cx="54864" cy="457200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5" name="Text 22"/>
          <p:cNvSpPr/>
          <p:nvPr/>
        </p:nvSpPr>
        <p:spPr>
          <a:xfrm>
            <a:off x="5257800" y="225856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AttackHitboxSystem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5257800" y="246888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Spawns temp hitboxes, prevents multi-hit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583680" y="26700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▼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5074920" y="2834640"/>
            <a:ext cx="54864" cy="457200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9" name="Text 26"/>
          <p:cNvSpPr/>
          <p:nvPr/>
        </p:nvSpPr>
        <p:spPr>
          <a:xfrm>
            <a:off x="5257800" y="285292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DamageSystem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257800" y="306324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damage, triggers knockback + hit react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583680" y="326440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▼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5074920" y="3429000"/>
            <a:ext cx="54864" cy="457200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3" name="Text 30"/>
          <p:cNvSpPr/>
          <p:nvPr/>
        </p:nvSpPr>
        <p:spPr>
          <a:xfrm>
            <a:off x="5257800" y="344728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HitTimerSystem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5257800" y="365760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0.5s invincibility frames after hit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6583680" y="385876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▼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5074920" y="4023360"/>
            <a:ext cx="54864" cy="45720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7" name="Text 34"/>
          <p:cNvSpPr/>
          <p:nvPr/>
        </p:nvSpPr>
        <p:spPr>
          <a:xfrm>
            <a:off x="5257800" y="404164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DeathSystem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5257800" y="425196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dead, disables collider, plays death SFX, adds 3s corpse Lifetime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GAME SYSTEMS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systems executed in a carefully ordered 15-step pipeline each frame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1097280"/>
            <a:ext cx="3931920" cy="16916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234440"/>
            <a:ext cx="274320" cy="2743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51560" y="12070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ENEMY AI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822960" y="155448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4-state machine: Idle → Patrol → Chase → Attack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range (10u), attack range (2u), instant first strike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Knockback interrupts with 0.7s recovery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Patrol waypoints with idle pauses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4663440" y="1097280"/>
            <a:ext cx="3931920" cy="16916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1234440"/>
            <a:ext cx="274320" cy="274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166360" y="12070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WORLD &amp; DOORS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4937760" y="155448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Proximity doors (auto-open within 2.5u)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Puzzle doors linked to floor switches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 swing animation (180°/sec)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Collider updates follow door panel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48640" y="2926080"/>
            <a:ext cx="3931920" cy="16916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063240"/>
            <a:ext cx="274320" cy="27432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051560" y="30358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DUNGEON GENERATION</a:t>
            </a:r>
            <a:endParaRPr lang="en-US" sz="1300" dirty="0"/>
          </a:p>
        </p:txBody>
      </p:sp>
      <p:sp>
        <p:nvSpPr>
          <p:cNvPr id="16" name="Text 10"/>
          <p:cNvSpPr/>
          <p:nvPr/>
        </p:nvSpPr>
        <p:spPr>
          <a:xfrm>
            <a:off x="822960" y="338328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Procedural room placement on 25×25 grid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room count and seed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prefab types (wall variants, floors, doors, stairs)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enemy and switch spawning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4663440" y="2926080"/>
            <a:ext cx="3931920" cy="16916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3063240"/>
            <a:ext cx="274320" cy="27432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5166360" y="30358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SCENE, UI &amp; AUDIO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4937760" y="338328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stack: push/pop for overlays (menus, settings)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bar HUD, UIButton + UISlider widgets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AudioManager (SDL3_mixer): music + SFX playback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AudioEventQueue: deferred SFX (attack, death, door)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FRAME EXECUTION PIPELINE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system ordering ensures correct behavior each frame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114300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6" name="Text 3"/>
          <p:cNvSpPr/>
          <p:nvPr/>
        </p:nvSpPr>
        <p:spPr>
          <a:xfrm>
            <a:off x="548640" y="11430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960120" y="11247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CombatInputSystem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960120" y="13075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player input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64592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0" name="Text 7"/>
          <p:cNvSpPr/>
          <p:nvPr/>
        </p:nvSpPr>
        <p:spPr>
          <a:xfrm>
            <a:off x="548640" y="16459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960120" y="16276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MovementSystem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60120" y="18105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movement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48640" y="21488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4" name="Text 11"/>
          <p:cNvSpPr/>
          <p:nvPr/>
        </p:nvSpPr>
        <p:spPr>
          <a:xfrm>
            <a:off x="548640" y="21488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60120" y="21305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CollisionSystem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960120" y="23134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AABB overlaps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48640" y="265176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8" name="Text 15"/>
          <p:cNvSpPr/>
          <p:nvPr/>
        </p:nvSpPr>
        <p:spPr>
          <a:xfrm>
            <a:off x="548640" y="2651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60120" y="263347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AnimationSystem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960120" y="28163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skeletons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48640" y="315468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2" name="Text 19"/>
          <p:cNvSpPr/>
          <p:nvPr/>
        </p:nvSpPr>
        <p:spPr>
          <a:xfrm>
            <a:off x="548640" y="31546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60120" y="31363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BoneAttachmentSystem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960120" y="331927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weapons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48640" y="365760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6" name="Text 23"/>
          <p:cNvSpPr/>
          <p:nvPr/>
        </p:nvSpPr>
        <p:spPr>
          <a:xfrm>
            <a:off x="548640" y="36576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60120" y="36393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AttackHitboxSystem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960120" y="38221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hitboxes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48640" y="416052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0" name="Text 27"/>
          <p:cNvSpPr/>
          <p:nvPr/>
        </p:nvSpPr>
        <p:spPr>
          <a:xfrm>
            <a:off x="548640" y="4160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960120" y="41422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DamageSystem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960120" y="43251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damage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4663440" y="114300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4" name="Text 31"/>
          <p:cNvSpPr/>
          <p:nvPr/>
        </p:nvSpPr>
        <p:spPr>
          <a:xfrm>
            <a:off x="4663440" y="11430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5074920" y="11247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DeathSystem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5074920" y="13075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dead, disable collider, death SFX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4663440" y="164592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8" name="Text 35"/>
          <p:cNvSpPr/>
          <p:nvPr/>
        </p:nvSpPr>
        <p:spPr>
          <a:xfrm>
            <a:off x="4663440" y="16459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5074920" y="16276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EnemyAISystem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5074920" y="18105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state machine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4663440" y="21488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42" name="Text 39"/>
          <p:cNvSpPr/>
          <p:nvPr/>
        </p:nvSpPr>
        <p:spPr>
          <a:xfrm>
            <a:off x="4663440" y="21488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5074920" y="21305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CombatSystem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5074920" y="23134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timing, combo windows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4663440" y="265176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46" name="Text 43"/>
          <p:cNvSpPr/>
          <p:nvPr/>
        </p:nvSpPr>
        <p:spPr>
          <a:xfrm>
            <a:off x="4663440" y="2651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074920" y="263347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SwitchTriggerSystem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5074920" y="28163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floor switches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4663440" y="315468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50" name="Text 47"/>
          <p:cNvSpPr/>
          <p:nvPr/>
        </p:nvSpPr>
        <p:spPr>
          <a:xfrm>
            <a:off x="4663440" y="31546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1" name="Text 48"/>
          <p:cNvSpPr/>
          <p:nvPr/>
        </p:nvSpPr>
        <p:spPr>
          <a:xfrm>
            <a:off x="5074920" y="31363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DoorSystem + DoorPuzzleSystem</a:t>
            </a:r>
            <a:endParaRPr lang="en-US" sz="1100" dirty="0"/>
          </a:p>
        </p:txBody>
      </p:sp>
      <p:sp>
        <p:nvSpPr>
          <p:cNvPr id="52" name="Text 49"/>
          <p:cNvSpPr/>
          <p:nvPr/>
        </p:nvSpPr>
        <p:spPr>
          <a:xfrm>
            <a:off x="5074920" y="331927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Doors, puzzles + SFX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4663440" y="365760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54" name="Text 51"/>
          <p:cNvSpPr/>
          <p:nvPr/>
        </p:nvSpPr>
        <p:spPr>
          <a:xfrm>
            <a:off x="4663440" y="36576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5074920" y="36393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LifetimeSystem</a:t>
            </a:r>
            <a:endParaRPr lang="en-US" sz="1100" dirty="0"/>
          </a:p>
        </p:txBody>
      </p:sp>
      <p:sp>
        <p:nvSpPr>
          <p:cNvPr id="56" name="Text 53"/>
          <p:cNvSpPr/>
          <p:nvPr/>
        </p:nvSpPr>
        <p:spPr>
          <a:xfrm>
            <a:off x="5074920" y="38221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Destroy expired entities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4663440" y="416052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58" name="Text 55"/>
          <p:cNvSpPr/>
          <p:nvPr/>
        </p:nvSpPr>
        <p:spPr>
          <a:xfrm>
            <a:off x="4663440" y="4160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5074920" y="41422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CameraFollowSystem</a:t>
            </a:r>
            <a:endParaRPr lang="en-US" sz="1100" dirty="0"/>
          </a:p>
        </p:txBody>
      </p:sp>
      <p:sp>
        <p:nvSpPr>
          <p:cNvPr id="60" name="Text 57"/>
          <p:cNvSpPr/>
          <p:nvPr/>
        </p:nvSpPr>
        <p:spPr>
          <a:xfrm>
            <a:off x="5074920" y="43251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camera + AudioEventQueue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548640" y="4617720"/>
            <a:ext cx="8046720" cy="411480"/>
          </a:xfrm>
          <a:prstGeom prst="rect">
            <a:avLst/>
          </a:prstGeom>
          <a:solidFill>
            <a:srgbClr val="1A2D1A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62" name="Text 59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→ Physics → Animation → Combat → AI → World → Camera → Audio  |  Each system sees the finalized state from the previous step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CODE QUALITY &amp; STABILITY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548640" y="868680"/>
            <a:ext cx="1920240" cy="91440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5" name="Text 2"/>
          <p:cNvSpPr/>
          <p:nvPr/>
        </p:nvSpPr>
        <p:spPr>
          <a:xfrm>
            <a:off x="548640" y="914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20+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548640" y="13716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697480" y="868680"/>
            <a:ext cx="1920240" cy="91440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8" name="Text 5"/>
          <p:cNvSpPr/>
          <p:nvPr/>
        </p:nvSpPr>
        <p:spPr>
          <a:xfrm>
            <a:off x="2697480" y="914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2697480" y="13716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846320" y="868680"/>
            <a:ext cx="1920240" cy="91440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1" name="Text 8"/>
          <p:cNvSpPr/>
          <p:nvPr/>
        </p:nvSpPr>
        <p:spPr>
          <a:xfrm>
            <a:off x="4846320" y="914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5,000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4846320" y="13716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Entities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995160" y="868680"/>
            <a:ext cx="1920240" cy="91440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4" name="Text 11"/>
          <p:cNvSpPr/>
          <p:nvPr/>
        </p:nvSpPr>
        <p:spPr>
          <a:xfrm>
            <a:off x="6995160" y="914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</a:t>
            </a:r>
            <a:endParaRPr lang="en-US" sz="3200" dirty="0"/>
          </a:p>
        </p:txBody>
      </p:sp>
      <p:sp>
        <p:nvSpPr>
          <p:cNvPr id="15" name="Text 12"/>
          <p:cNvSpPr/>
          <p:nvPr/>
        </p:nvSpPr>
        <p:spPr>
          <a:xfrm>
            <a:off x="6995160" y="13716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 Matrices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965960"/>
            <a:ext cx="4023360" cy="297180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7" name="Text 14"/>
          <p:cNvSpPr/>
          <p:nvPr/>
        </p:nvSpPr>
        <p:spPr>
          <a:xfrm>
            <a:off x="731520" y="2057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ENGINEERING PRACTICES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31520" y="237744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O(1) component access via entity-to-index map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Swap-and-pop removal (no array gaps)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Contiguous memory layout for cache efficiency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time with 100ms clamp (no physics explosions)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Deferred scene transitions (no mid-frame destruction)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Frame-based input edge detection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Path-based asset deduplication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engine/game library separation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754880" y="1965960"/>
            <a:ext cx="4023360" cy="137160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2057400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5257800" y="2057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DEBUG TOOLS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4937760" y="237744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F3: Toggle debug mode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F4: FPS counter overlay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F5: Wireframe collider visualization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4754880" y="3520440"/>
            <a:ext cx="4023360" cy="141732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3611880"/>
            <a:ext cx="274320" cy="27432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257800" y="3611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DOCUMENTATION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4937760" y="393192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overview &amp; architecture docs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architecture deep dive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design document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flow &amp; system execution docs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kern="0" spc="600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DEMO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3200400" y="2286000"/>
            <a:ext cx="2743200" cy="0"/>
          </a:xfrm>
          <a:prstGeom prst="line">
            <a:avLst/>
          </a:prstGeom>
          <a:noFill/>
          <a:ln w="1905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Text 3"/>
          <p:cNvSpPr/>
          <p:nvPr/>
        </p:nvSpPr>
        <p:spPr>
          <a:xfrm>
            <a:off x="1828800" y="2560320"/>
            <a:ext cx="5486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Dungeon exploration &amp; procedural generation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3-hit combo combat with knockback and lunge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Enemy AI behavior (patrol, chase, attack)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 puzzles and interactive switches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system &amp; settings controls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tools (FPS, collider visualization)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kern="0" spc="600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3200400" y="2286000"/>
            <a:ext cx="2743200" cy="0"/>
          </a:xfrm>
          <a:prstGeom prst="line">
            <a:avLst/>
          </a:prstGeom>
          <a:noFill/>
          <a:ln w="1905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0F0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34747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github.com/JosephDriedger/echoes-of-the-forgotten-keep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903</Words>
  <Application>Microsoft Office PowerPoint</Application>
  <PresentationFormat>On-screen Show (16:9)</PresentationFormat>
  <Paragraphs>232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Echoes of the Forgotten Keep</dc:title>
  <dc:subject>PptxGenJS Presentation</dc:subject>
  <dc:creator>Joey Driedger, Adam Van Woerden, Elijah Fabon</dc:creator>
  <cp:lastModifiedBy>Joseph Driedger</cp:lastModifiedBy>
  <cp:revision>2</cp:revision>
  <dcterms:created xsi:type="dcterms:W3CDTF">2026-04-07T02:06:30Z</dcterms:created>
  <dcterms:modified xsi:type="dcterms:W3CDTF">2026-04-08T00:42:33Z</dcterms:modified>
</cp:coreProperties>
</file>