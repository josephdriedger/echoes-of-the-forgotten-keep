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06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800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ECHOES OF THE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FORGOTTEN KEEP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C++20 3D Game Engine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8051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Joey Driedger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Engine &amp;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Van Woerden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Graphics &amp; Rendering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Elijah Fabon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Gameplay &amp;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modular design with clear system boundaries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4754880" cy="822960"/>
          </a:xfrm>
          <a:prstGeom prst="rect">
            <a:avLst/>
          </a:prstGeom>
          <a:solidFill>
            <a:srgbClr val="2D4A3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716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258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logic, scenes, room layout, enemy config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56032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B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121408"/>
            <a:ext cx="4754880" cy="822960"/>
          </a:xfrm>
          <a:prstGeom prst="rect">
            <a:avLst/>
          </a:prstGeom>
          <a:solidFill>
            <a:srgbClr val="2D3E5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30428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212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Core Layer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325880" y="2532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framework, scene manager, time, input, audio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560320" y="2898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B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054096"/>
            <a:ext cx="4754880" cy="822960"/>
          </a:xfrm>
          <a:prstGeom prst="rect">
            <a:avLst/>
          </a:prstGeom>
          <a:solidFill>
            <a:srgbClr val="3E2D5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36976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1455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Layer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25880" y="34655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Shaders, meshes, textures, skeletal animation, camera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560320" y="38313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B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986784"/>
            <a:ext cx="4754880" cy="822960"/>
          </a:xfrm>
          <a:prstGeom prst="rect">
            <a:avLst/>
          </a:prstGeom>
          <a:solidFill>
            <a:srgbClr val="5E2D3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69664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078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25880" y="4398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SDL3 window, OpenGL 4.6, audio (SDL3_mixer)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669280" y="1188720"/>
            <a:ext cx="3108960" cy="36576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18"/>
          <p:cNvSpPr/>
          <p:nvPr/>
        </p:nvSpPr>
        <p:spPr>
          <a:xfrm>
            <a:off x="58521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852160" y="16916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SDL3 + SDL3_mixer + SDL3_image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4.6 (via GLAD)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(math library)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Assimp 6.0.4 (model loading)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stb_truetype (font rendering)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build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ECS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Entity-Component-System: data-oriented design separating identity, data, and logic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2468880" cy="2560320"/>
          </a:xfrm>
          <a:prstGeom prst="rect">
            <a:avLst/>
          </a:prstGeom>
          <a:solidFill>
            <a:srgbClr val="2D4A3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8580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1783080"/>
            <a:ext cx="173736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uint32_t identifiers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5,000 entities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recycling via stack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bitset (64-bit)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468880" cy="2560320"/>
          </a:xfrm>
          <a:prstGeom prst="rect">
            <a:avLst/>
          </a:prstGeom>
          <a:solidFill>
            <a:srgbClr val="2D3E5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338328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832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data structs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11880" y="1783080"/>
            <a:ext cx="173736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3429000" y="1920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component types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Render, Health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CombatState, EnemyAI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Collider, AnimationState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1143000"/>
            <a:ext cx="2468880" cy="2560320"/>
          </a:xfrm>
          <a:prstGeom prst="rect">
            <a:avLst/>
          </a:prstGeom>
          <a:solidFill>
            <a:srgbClr val="3E2D5E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60807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8076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processors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1783080"/>
            <a:ext cx="173736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6126480" y="19202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systems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or instance-based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execution pipeline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systems per frame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886200"/>
            <a:ext cx="8046720" cy="1051560"/>
          </a:xfrm>
          <a:prstGeom prst="rect">
            <a:avLst/>
          </a:prstGeom>
          <a:solidFill>
            <a:srgbClr val="141E2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ComponentStorage: O(1) access via entity-to-index map  |  "Swap and pop" removal  |  Contiguous memory layout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" y="42519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registry.AddComponent(entity, Transform(10.0f, 0.0f, 5.0f));  // Copy-add component to entity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44805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registry.AddComponent(entity, Player{});                              // Marker component, no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 PIPELINE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rendering with OpenGL 4.6, skeletal animation, and GPU skinning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3"/>
          <p:cNvSpPr/>
          <p:nvPr/>
        </p:nvSpPr>
        <p:spPr>
          <a:xfrm>
            <a:off x="891540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89154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19072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2061972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2061972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64792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24912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889504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3232404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3232404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935224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895344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059936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8"/>
          <p:cNvSpPr/>
          <p:nvPr/>
        </p:nvSpPr>
        <p:spPr>
          <a:xfrm>
            <a:off x="4402836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4402836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05656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65776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230368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3"/>
          <p:cNvSpPr/>
          <p:nvPr/>
        </p:nvSpPr>
        <p:spPr>
          <a:xfrm>
            <a:off x="5573268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4"/>
          <p:cNvSpPr/>
          <p:nvPr/>
        </p:nvSpPr>
        <p:spPr>
          <a:xfrm>
            <a:off x="5573268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76088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36208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400800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8"/>
          <p:cNvSpPr/>
          <p:nvPr/>
        </p:nvSpPr>
        <p:spPr>
          <a:xfrm>
            <a:off x="6743700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29"/>
          <p:cNvSpPr/>
          <p:nvPr/>
        </p:nvSpPr>
        <p:spPr>
          <a:xfrm>
            <a:off x="674370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4652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06640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571232" y="1143000"/>
            <a:ext cx="10058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33"/>
          <p:cNvSpPr/>
          <p:nvPr/>
        </p:nvSpPr>
        <p:spPr>
          <a:xfrm>
            <a:off x="7914132" y="12344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4"/>
          <p:cNvSpPr/>
          <p:nvPr/>
        </p:nvSpPr>
        <p:spPr>
          <a:xfrm>
            <a:off x="7914132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616952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" y="2423160"/>
            <a:ext cx="26060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0"/>
            <a:ext cx="274320" cy="27432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051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Shading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105156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+ diffuse + specular lighting with directional light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3291840" y="2423160"/>
            <a:ext cx="26060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560320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37947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Skinning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379476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bone matrices uploaded per entity for skeletal deformation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035040" y="2423160"/>
            <a:ext cx="26060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560320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5379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Blending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6537960" y="2834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 smooth transitions between 7 animation states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548640" y="3538728"/>
            <a:ext cx="26060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75888"/>
            <a:ext cx="274320" cy="27432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1051560" y="3648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GLB/GLTF Loading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1051560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Assimp 6.0.4 for models, skeletons, and animation clips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3291840" y="3538728"/>
            <a:ext cx="26060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675888"/>
            <a:ext cx="274320" cy="27432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3794760" y="3648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Rendering</a:t>
            </a:r>
            <a:endParaRPr lang="en-US" sz="1300" dirty="0"/>
          </a:p>
        </p:txBody>
      </p:sp>
      <p:sp>
        <p:nvSpPr>
          <p:cNvPr id="58" name="Text 50"/>
          <p:cNvSpPr/>
          <p:nvPr/>
        </p:nvSpPr>
        <p:spPr>
          <a:xfrm>
            <a:off x="3794760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TrueType font atlas (512x512) via stb_truetype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6035040" y="3538728"/>
            <a:ext cx="2606040" cy="10058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675888"/>
            <a:ext cx="274320" cy="27432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6537960" y="3648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Rendering</a:t>
            </a:r>
            <a:endParaRPr lang="en-US" sz="1300" dirty="0"/>
          </a:p>
        </p:txBody>
      </p:sp>
      <p:sp>
        <p:nvSpPr>
          <p:cNvPr id="62" name="Text 53"/>
          <p:cNvSpPr/>
          <p:nvPr/>
        </p:nvSpPr>
        <p:spPr>
          <a:xfrm>
            <a:off x="6537960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Orthographic projection for HUD, menus, and overlays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COMBAT SYSTEM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interlinked systems powering real-time melee combat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4114800" cy="37490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COMBAT FLOW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1645920"/>
            <a:ext cx="3657600" cy="594360"/>
          </a:xfrm>
          <a:prstGeom prst="rect">
            <a:avLst/>
          </a:prstGeom>
          <a:solidFill>
            <a:srgbClr val="2D5E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914400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1 — Horizontal Slice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2212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Combo Window (0.5s)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2423160"/>
            <a:ext cx="3657600" cy="594360"/>
          </a:xfrm>
          <a:prstGeom prst="rect">
            <a:avLst/>
          </a:prstGeom>
          <a:solidFill>
            <a:srgbClr val="3E5E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91440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2 — Stab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71600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Combo Window (0.5s)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3200400"/>
            <a:ext cx="3657600" cy="594360"/>
          </a:xfrm>
          <a:prstGeom prst="rect">
            <a:avLst/>
          </a:prstGeom>
          <a:solidFill>
            <a:srgbClr val="5E3E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3 — Jump Chop + Lunge (2.5x knockback)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143000"/>
            <a:ext cx="3840480" cy="37490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512064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INTERACTION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74920" y="1645920"/>
            <a:ext cx="54864" cy="45720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8"/>
          <p:cNvSpPr/>
          <p:nvPr/>
        </p:nvSpPr>
        <p:spPr>
          <a:xfrm>
            <a:off x="5257800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CombatInputSystem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57800" y="1874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SPACE key, queues combo attacks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83680" y="20756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74920" y="2240280"/>
            <a:ext cx="54864" cy="45720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5257800" y="2258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AttackHitboxSystem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24688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temp hitboxes, prevents multi-hit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83680" y="2670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074920" y="2834640"/>
            <a:ext cx="54864" cy="45720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6"/>
          <p:cNvSpPr/>
          <p:nvPr/>
        </p:nvSpPr>
        <p:spPr>
          <a:xfrm>
            <a:off x="5257800" y="2852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DamageSystem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257800" y="30632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damage, triggers knockback + hit react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0" y="3264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074920" y="3429000"/>
            <a:ext cx="54864" cy="45720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0"/>
          <p:cNvSpPr/>
          <p:nvPr/>
        </p:nvSpPr>
        <p:spPr>
          <a:xfrm>
            <a:off x="5257800" y="34472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HitTimerSystem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57800" y="3657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 invincibility frames after hit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83680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B"/>
                </a:solidFill>
              </a:rPr>
              <a:t>▼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074920" y="4023360"/>
            <a:ext cx="54864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4"/>
          <p:cNvSpPr/>
          <p:nvPr/>
        </p:nvSpPr>
        <p:spPr>
          <a:xfrm>
            <a:off x="5257800" y="4041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DeathSystem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257800" y="4251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dead, disables collider, plays death SFX, adds 3s corpse Lifetime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SYSTEMS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systems executed in a carefully ordered 15-step pipeline each frame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931920" cy="16916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34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ENEMY AI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15544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4-state machine: Idle → Patrol → Chase → Attack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range (10u), attack range (2u), instant first strike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Knockback interrupts with 0.7s recovery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waypoints with idle pauses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1097280"/>
            <a:ext cx="3931920" cy="16916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344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636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&amp; DOORS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937760" y="15544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doors (auto-open within 2.5u)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swing animation (180°/sec)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updates follow door panel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2926080"/>
            <a:ext cx="3931920" cy="16916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632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DUNGEON GENERATION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22960" y="3383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room placement on 25×25 grid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room count and seed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prefab types (wall variants, floors, doors, stairs)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enemy and switch spawning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663440" y="2926080"/>
            <a:ext cx="3931920" cy="169164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06324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66360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SCENE, UI &amp; AUDIO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937760" y="3383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stack: push/pop for overlays (menus, settings)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HUD, UIButton + UISlider widgets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AudioManager (SDL3_mixer): music + SFX playback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AudioEventQueue: deferred SFX (attack, death, door)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EXECUTION PIPELINE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system ordering ensures correct behavior each frame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" y="1124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CombatInputSystem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307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player input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MovementSystem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" y="1810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movement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2130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CollisionSystem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2313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AABB overlaps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60120" y="2633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AnimationSystem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0120" y="2816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skeletons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31363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BoneAttachmentSystem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012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weapons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3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60120" y="3639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AttackHitboxSystem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60120" y="3822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hitboxes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7"/>
          <p:cNvSpPr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60120" y="41422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DamageSystem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60120" y="4325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damage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114300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1"/>
          <p:cNvSpPr/>
          <p:nvPr/>
        </p:nvSpPr>
        <p:spPr>
          <a:xfrm>
            <a:off x="466344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074920" y="11247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DeathSystem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74920" y="1307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dead, disable collider, death SFX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63440" y="164592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Text 35"/>
          <p:cNvSpPr/>
          <p:nvPr/>
        </p:nvSpPr>
        <p:spPr>
          <a:xfrm>
            <a:off x="46634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07492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EnemyAISystem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074920" y="1810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state machine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63440" y="214884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Text 39"/>
          <p:cNvSpPr/>
          <p:nvPr/>
        </p:nvSpPr>
        <p:spPr>
          <a:xfrm>
            <a:off x="46634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074920" y="2130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HitTimerSystem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074920" y="2313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timing, combo windows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663440" y="265176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6" name="Text 43"/>
          <p:cNvSpPr/>
          <p:nvPr/>
        </p:nvSpPr>
        <p:spPr>
          <a:xfrm>
            <a:off x="46634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074920" y="2633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DoorSystem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074920" y="2816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action system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663440" y="315468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Text 47"/>
          <p:cNvSpPr/>
          <p:nvPr/>
        </p:nvSpPr>
        <p:spPr>
          <a:xfrm>
            <a:off x="46634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074920" y="31363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LifetimeSystem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074920" y="3319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expired entities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663440" y="365760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1"/>
          <p:cNvSpPr/>
          <p:nvPr/>
        </p:nvSpPr>
        <p:spPr>
          <a:xfrm>
            <a:off x="46634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5074920" y="3639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CameraFollowSystem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074920" y="386791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camera + </a:t>
            </a:r>
            <a:r>
              <a:rPr lang="en-US" sz="900" dirty="0" err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AudioEventQueue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663440" y="4160520"/>
            <a:ext cx="320040" cy="320040"/>
          </a:xfrm>
          <a:prstGeom prst="ellipse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Text 55"/>
          <p:cNvSpPr/>
          <p:nvPr/>
        </p:nvSpPr>
        <p:spPr>
          <a:xfrm>
            <a:off x="46634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5074920" y="41422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AudioEventQueue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0" name="Text 57"/>
          <p:cNvSpPr/>
          <p:nvPr/>
        </p:nvSpPr>
        <p:spPr>
          <a:xfrm>
            <a:off x="5074920" y="43217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Audio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1" name="Shape 5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1A2D1A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2" name="Text 59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Physics → Animation → Combat → AI → World → Camera → Audio  |  Each system sees the finalized state from the previous step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QUALITY &amp; STABILITY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868680"/>
            <a:ext cx="1920240" cy="9144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97480" y="868680"/>
            <a:ext cx="1920240" cy="9144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269748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69748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868680"/>
            <a:ext cx="1920240" cy="9144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4846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84632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Entities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95160" y="868680"/>
            <a:ext cx="1920240" cy="9144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699516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99516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Matrices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1965960"/>
            <a:ext cx="4023360" cy="29718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PRACTICES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23774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component access via entity-to-index map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Swap-and-pop removal (no array gaps)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layout for cache efficiency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time with 100ms clamp (no physics explosions)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scene transitions (no mid-frame destruction)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Frame-based input edge detection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Path-based asset deduplication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engine/game library separation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965960"/>
            <a:ext cx="4023360" cy="137160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5740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TOOLS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93776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F3: Toggle debug mode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F4: FPS counter overlay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F5: Wireframe collider visualization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3520440"/>
            <a:ext cx="4023360" cy="1417320"/>
          </a:xfrm>
          <a:prstGeom prst="rect">
            <a:avLst/>
          </a:prstGeom>
          <a:solidFill>
            <a:srgbClr val="1A2332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6118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578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93776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overview &amp; architecture docs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architecture deep dive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 document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flow &amp; system execution docs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1905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828800" y="25603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exploration &amp; procedural generation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3-hit combo combat with knockback and lunge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AI behavior (patrol, chase, attack)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puzzles and interactive switches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system &amp; settings controls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tools (FPS, collider visualization)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1905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F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github.com/JosephDriedger/echoes-of-the-forgotten-keep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892</Words>
  <Application>Microsoft Office PowerPoint</Application>
  <PresentationFormat>On-screen Show 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Echoes of the Forgotten Keep</dc:title>
  <dc:subject>PptxGenJS Presentation</dc:subject>
  <dc:creator>Joey Driedger, Adam Van Woerden, Elijah Fabon</dc:creator>
  <cp:lastModifiedBy>Adam Van Woerden</cp:lastModifiedBy>
  <cp:revision>3</cp:revision>
  <dcterms:created xsi:type="dcterms:W3CDTF">2026-04-07T02:06:30Z</dcterms:created>
  <dcterms:modified xsi:type="dcterms:W3CDTF">2026-04-08T01:01:30Z</dcterms:modified>
</cp:coreProperties>
</file>